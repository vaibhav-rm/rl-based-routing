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22A4A"/>
                </a:solidFill>
              </a:rPr>
              <a:t>Adaptive Packet Routing with Deep Reinforcement Learning</a:t>
            </a:r>
          </a:p>
          <a:p>
            <a:r>
              <a:rPr sz="1900">
                <a:solidFill>
                  <a:srgbClr val="6A1B9A"/>
                </a:solidFill>
              </a:rPr>
              <a:t>Topology generalization · multi-objective trade-offs · robustness · continual adaptation</a:t>
            </a:r>
          </a:p>
          <a:p>
            <a:pPr>
              <a:spcBef>
                <a:spcPts val="2400"/>
              </a:spcBef>
            </a:pPr>
            <a:r>
              <a:rPr sz="1800">
                <a:solidFill>
                  <a:srgbClr val="444444"/>
                </a:solidFill>
              </a:rPr>
              <a:t>Vaibhav Rathod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2A4A"/>
                </a:solidFill>
              </a:rPr>
              <a:t>The problem</a:t>
            </a:r>
          </a:p>
          <a:p>
            <a:r>
              <a:rPr sz="1500" i="1">
                <a:solidFill>
                  <a:srgbClr val="6A1B9A"/>
                </a:solidFill>
              </a:rPr>
              <a:t>Why learn to route?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Classical routing (OSPF/Dijkstra, ECMP) reacts to congestion and failures only via periodic metric updates — it does not learn.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Reinforcement learning can learn a forwarding policy that optimizes long-horizon delay and delivery directly from link state.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But the RL-routing literature is fragmented:</a:t>
            </a:r>
          </a:p>
          <a:p>
            <a:pPr lvl="1"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– one algorithm, one topology, one objective, one aggregate number.</a:t>
            </a:r>
          </a:p>
          <a:p>
            <a:pPr lvl="1">
              <a:spcAft>
                <a:spcPts val="700"/>
              </a:spcAft>
            </a:pPr>
            <a:r>
              <a:rPr sz="1600">
                <a:solidFill>
                  <a:srgbClr val="444444"/>
                </a:solidFill>
              </a:rPr>
              <a:t>– rarely answered together: generalization, trade-offs, robustness, continual adaptation, fairness.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This project studies all of them on one simulator with one set of agents — honestly.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2A4A"/>
                </a:solidFill>
              </a:rPr>
              <a:t>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Reproducible multi-seed comparison: 5 learners + 3 classical baselines, bootstrap CIs, 73-test suite.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Zero-shot scalability: a GNN policy transfers route quality to graphs 5× larger than training.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Multi-objective Pareto view — across algorithms and within one learner (reward-weight sweep).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Adversarial robustness: worst-case (critical-link) vs. random failures.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Continual learning: quantify catastrophic forgetting in routing + two remedies.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All code, tests, and result artifacts released.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2A4A"/>
                </a:solidFill>
              </a:rPr>
              <a:t>System model</a:t>
            </a:r>
          </a:p>
          <a:p>
            <a:r>
              <a:rPr sz="1500" i="1">
                <a:solidFill>
                  <a:srgbClr val="6A1B9A"/>
                </a:solidFill>
              </a:rPr>
              <a:t>10-node network, realistic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M/M/1 queuing-delay model: delay diverges as utilization → 1.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AR(1) bursty congestion; RED-like loss; Markov link failure/recovery.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Observation: 4 features/link (congestion, delay, loss, up/down) + src/dst.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Agents: DQN, Rainbow, GNN-DQN, Q-Routing (+ continual variant).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Baselines: Dijkstra (OSPF), ECMP, random.</a:t>
            </a:r>
          </a:p>
        </p:txBody>
      </p:sp>
      <p:pic>
        <p:nvPicPr>
          <p:cNvPr id="5" name="Picture 4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5120640" cy="19664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2A4A"/>
                </a:solidFill>
              </a:rPr>
              <a:t>Headline: the GNN policy wins</a:t>
            </a:r>
          </a:p>
          <a:p>
            <a:r>
              <a:rPr sz="1500" i="1">
                <a:solidFill>
                  <a:srgbClr val="6A1B9A"/>
                </a:solidFill>
              </a:rPr>
              <a:t>PDR &amp; delay vs link-failure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122A4A"/>
                </a:solidFill>
              </a:rPr>
              <a:t>• GNN-DQN: PDR = 1.00 at every failure rate, lowest delay (~9–10 ms).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22A4A"/>
                </a:solidFill>
              </a:rPr>
              <a:t>• Routes from graph structure → reroutes around failures with no degradation.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22A4A"/>
                </a:solidFill>
              </a:rPr>
              <a:t>• Rainbow competitive (0.90–0.94); vanilla DQN trails baselines on PDR.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22A4A"/>
                </a:solidFill>
              </a:rPr>
              <a:t>• Caveat: failed links are penalized but traversable, so PDR saturates —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44444"/>
                </a:solidFill>
              </a:rPr>
              <a:t>– we add more discriminating metrics on the next slides.</a:t>
            </a:r>
          </a:p>
        </p:txBody>
      </p:sp>
      <p:pic>
        <p:nvPicPr>
          <p:cNvPr id="5" name="Picture 4" descr="evalu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577840" cy="41915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2A4A"/>
                </a:solidFill>
              </a:rPr>
              <a:t>Zero-shot scalability</a:t>
            </a:r>
          </a:p>
          <a:p>
            <a:r>
              <a:rPr sz="1500" i="1">
                <a:solidFill>
                  <a:srgbClr val="6A1B9A"/>
                </a:solidFill>
              </a:rPr>
              <a:t>Trained on 10 nodes → applied to 50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GNN weights are size-independent → apply to any graph.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Metric: delay stretch = policy delay / Dijkstra-optimal.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GNN stays ~1.1–1.2 up to 50 nodes (5× training size).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Random walk degrades 3.2 → 10.7.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Transfers route QUALITY, not just reachability.</a:t>
            </a:r>
          </a:p>
        </p:txBody>
      </p:sp>
      <p:pic>
        <p:nvPicPr>
          <p:cNvPr id="5" name="Picture 4" descr="sca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852160" cy="2082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2A4A"/>
                </a:solidFill>
              </a:rPr>
              <a:t>Multi-objective trade-offs</a:t>
            </a:r>
          </a:p>
          <a:p>
            <a:r>
              <a:rPr sz="1500" i="1">
                <a:solidFill>
                  <a:srgbClr val="6A1B9A"/>
                </a:solidFill>
              </a:rPr>
              <a:t>Latency vs reliability is not one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Across algorithms (delay, PDR): GNN-DQN is the SOLE Pareto-optimal point.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Within one learner: sweep the reward's drop-penalty weight to trace its own front.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Lets you pick an operating point instead of hard-coding one scalarization.</a:t>
            </a:r>
          </a:p>
        </p:txBody>
      </p:sp>
      <p:pic>
        <p:nvPicPr>
          <p:cNvPr id="5" name="Picture 4" descr="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6035040" cy="2573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2A4A"/>
                </a:solidFill>
              </a:rPr>
              <a:t>Adversarial robustness</a:t>
            </a:r>
          </a:p>
          <a:p>
            <a:r>
              <a:rPr sz="1500" i="1">
                <a:solidFill>
                  <a:srgbClr val="6A1B9A"/>
                </a:solidFill>
              </a:rPr>
              <a:t>Worst-case vs average-case failures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Targeted attack disables the highest edge-betweenness (most critical) links.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GNN keeps PDR = 1.00 under both random and targeted failures.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Vanilla DQN collapses 0.91 → 0.60 under attack —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444444"/>
                </a:solidFill>
              </a:rPr>
              <a:t>– an exposure invisible to random-failure testing.</a:t>
            </a:r>
          </a:p>
        </p:txBody>
      </p:sp>
      <p:pic>
        <p:nvPicPr>
          <p:cNvPr id="5" name="Picture 4" descr="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852160" cy="2080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2A4A"/>
                </a:solidFill>
              </a:rPr>
              <a:t>Catastrophic forgetting — the new result</a:t>
            </a:r>
          </a:p>
          <a:p>
            <a:r>
              <a:rPr sz="1500" i="1">
                <a:solidFill>
                  <a:srgbClr val="6A1B9A"/>
                </a:solidFill>
              </a:rPr>
              <a:t>Can an agent adapt without forgetting?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22A4A"/>
                </a:solidFill>
              </a:rPr>
              <a:t>• Train one DQN sequentially on two conflicting destination tasks.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22A4A"/>
                </a:solidFill>
              </a:rPr>
              <a:t>• Naive: Task-A delivery COLLAPSES 0.77 → 0.09 (catastrophic forgetting).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22A4A"/>
                </a:solidFill>
              </a:rPr>
              <a:t>• Rehearsal (keep old replay data): fully prevents it (forgetting ≈ 0).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22A4A"/>
                </a:solidFill>
              </a:rPr>
              <a:t>• EWC does NOT transfer here: destination-conditioned policy shares weights,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444444"/>
                </a:solidFill>
              </a:rPr>
              <a:t>– diagonal-Fisher can't isolate task-specific computation.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22A4A"/>
                </a:solidFill>
              </a:rPr>
              <a:t>• Takeaway: data-space rehearsal (≈ free in RL) is the robust fix.</a:t>
            </a:r>
          </a:p>
        </p:txBody>
      </p:sp>
      <p:pic>
        <p:nvPicPr>
          <p:cNvPr id="5" name="Picture 4" descr="continual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760720" cy="22898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2A4A"/>
                </a:solidFill>
              </a:rPr>
              <a:t>Honest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Failed links are penalized but traversable → PDR saturates; discriminating metrics carry the analysis.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Most experiments use one 10-node topology (scalability covers size, GNN-only, no failures).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Simulation only; a localhost data-plane prototype forwards real packets and reroutes, but no hardware testbed yet.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22A4A"/>
                </a:solidFill>
              </a:rPr>
              <a:t>• We investigated a non-Markovian / recurrent-memory thesis, found it unsupported in this env, and removed it rather than overclaim.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2A4A"/>
                </a:solidFill>
              </a:rPr>
              <a:t>Takeaways &amp; reproducibility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64240" cy="3175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A structure-aware GNN policy is Pareto-optimal, scales zero-shot, and resists targeted attacks.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Catastrophic forgetting is real in learned routing; simple rehearsal is the robust remedy.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Everything is reproducible: train.py, evaluate.py, experiments/*.py, 73 passing tests.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122A4A"/>
                </a:solidFill>
              </a:rPr>
              <a:t>• Future work: larger &amp; real testbeds, harder (hard-cut) failure regimes, decentralized multi-agent RL.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A1B9A"/>
                </a:solidFill>
              </a:rPr>
              <a:t>Code · tests · results · paper — all in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